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5"/>
  </p:notesMasterIdLst>
  <p:sldIdLst>
    <p:sldId id="256" r:id="rId2"/>
    <p:sldId id="312" r:id="rId3"/>
    <p:sldId id="262" r:id="rId4"/>
    <p:sldId id="260" r:id="rId5"/>
    <p:sldId id="318" r:id="rId6"/>
    <p:sldId id="313" r:id="rId7"/>
    <p:sldId id="266" r:id="rId8"/>
    <p:sldId id="314" r:id="rId9"/>
    <p:sldId id="263" r:id="rId10"/>
    <p:sldId id="316" r:id="rId11"/>
    <p:sldId id="267" r:id="rId12"/>
    <p:sldId id="319" r:id="rId13"/>
    <p:sldId id="283" r:id="rId1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6"/>
    </p:embeddedFont>
    <p:embeddedFont>
      <p:font typeface="Chakra Petch Medium" panose="020B0604020202020204" charset="-34"/>
      <p:regular r:id="rId17"/>
      <p:bold r:id="rId18"/>
      <p:italic r:id="rId19"/>
      <p:boldItalic r:id="rId20"/>
    </p:embeddedFont>
    <p:embeddedFont>
      <p:font typeface="Fira Code" panose="020B0809050000020004" pitchFamily="49" charset="0"/>
      <p:regular r:id="rId21"/>
      <p:bold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370B35-3B6E-46AD-8914-89DD10478D08}">
  <a:tblStyle styleId="{47370B35-3B6E-46AD-8914-89DD10478D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0661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17030f7ab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17030f7ab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978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117030f7ab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117030f7ab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161526d799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161526d799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4748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161526d799_0_1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161526d799_0_1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17030f7ab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17030f7ab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1568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17030f7ab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17030f7ab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117030f7ab2_0_22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117030f7ab2_0_22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Google Shape;15;p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" name="Google Shape;17;p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9" name="Google Shape;19;p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" name="Google Shape;20;p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" name="Google Shape;21;p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22;p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" name="Google Shape;25;p2"/>
          <p:cNvSpPr txBox="1">
            <a:spLocks noGrp="1"/>
          </p:cNvSpPr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0" name="Google Shape;30;p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Google Shape;35;p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7" name="Google Shape;37;p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" name="Google Shape;39;p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" name="Google Shape;40;p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1" name="Google Shape;41;p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" name="Google Shape;42;p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3" name="Google Shape;43;p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9" name="Google Shape;69;p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76" name="Google Shape;76;p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8" name="Google Shape;78;p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" name="Google Shape;79;p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80" name="Google Shape;80;p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" name="Google Shape;81;p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82" name="Google Shape;82;p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4" name="Google Shape;84;p5"/>
          <p:cNvSpPr txBox="1">
            <a:spLocks noGrp="1"/>
          </p:cNvSpPr>
          <p:nvPr>
            <p:ph type="subTitle" idx="1"/>
          </p:nvPr>
        </p:nvSpPr>
        <p:spPr>
          <a:xfrm>
            <a:off x="897338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2"/>
          </p:nvPr>
        </p:nvSpPr>
        <p:spPr>
          <a:xfrm>
            <a:off x="4856037" y="1992600"/>
            <a:ext cx="3390600" cy="44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3"/>
          </p:nvPr>
        </p:nvSpPr>
        <p:spPr>
          <a:xfrm>
            <a:off x="8973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4"/>
          </p:nvPr>
        </p:nvSpPr>
        <p:spPr>
          <a:xfrm>
            <a:off x="4856038" y="2437500"/>
            <a:ext cx="3390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9" name="Google Shape;109;p7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7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7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7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7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4" name="Google Shape;114;p7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7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16" name="Google Shape;116;p7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8" name="Google Shape;118;p7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7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20" name="Google Shape;120;p7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" name="Google Shape;121;p7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22" name="Google Shape;122;p7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7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5199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4C96"/>
              </a:buClr>
              <a:buSzPts val="1600"/>
              <a:buFont typeface="Poppins"/>
              <a:buChar char="●"/>
              <a:defRPr sz="1500">
                <a:solidFill>
                  <a:srgbClr val="434343"/>
                </a:solidFill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  <a:defRPr>
                <a:solidFill>
                  <a:srgbClr val="434343"/>
                </a:solidFill>
              </a:defRPr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  <a:defRPr>
                <a:solidFill>
                  <a:srgbClr val="434343"/>
                </a:solidFill>
              </a:defRPr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8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28" name="Google Shape;128;p8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8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Google Shape;130;p8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p8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Google Shape;132;p8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3" name="Google Shape;133;p8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134;p8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35" name="Google Shape;135;p8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7" name="Google Shape;137;p8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8" name="Google Shape;138;p8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39" name="Google Shape;139;p8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" name="Google Shape;140;p8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41" name="Google Shape;141;p8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715050" y="960600"/>
            <a:ext cx="7713900" cy="32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54" name="Google Shape;254;p1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1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1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1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1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9" name="Google Shape;259;p1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" name="Google Shape;260;p1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61" name="Google Shape;261;p1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63" name="Google Shape;263;p1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4" name="Google Shape;264;p1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65" name="Google Shape;265;p1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6" name="Google Shape;266;p1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67" name="Google Shape;267;p1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9" name="Google Shape;269;p15"/>
          <p:cNvSpPr txBox="1">
            <a:spLocks noGrp="1"/>
          </p:cNvSpPr>
          <p:nvPr>
            <p:ph type="subTitle" idx="1"/>
          </p:nvPr>
        </p:nvSpPr>
        <p:spPr>
          <a:xfrm>
            <a:off x="1844400" y="2739675"/>
            <a:ext cx="5455200" cy="6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5"/>
          <p:cNvSpPr txBox="1">
            <a:spLocks noGrp="1"/>
          </p:cNvSpPr>
          <p:nvPr>
            <p:ph type="title"/>
          </p:nvPr>
        </p:nvSpPr>
        <p:spPr>
          <a:xfrm>
            <a:off x="1844413" y="1467150"/>
            <a:ext cx="5455200" cy="10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1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6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73" name="Google Shape;273;p16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16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16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16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16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8" name="Google Shape;278;p16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16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80" name="Google Shape;280;p16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82" name="Google Shape;282;p16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3" name="Google Shape;283;p16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84" name="Google Shape;284;p16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5" name="Google Shape;285;p16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86" name="Google Shape;286;p16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6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8" name="Google Shape;288;p16"/>
          <p:cNvSpPr txBox="1">
            <a:spLocks noGrp="1"/>
          </p:cNvSpPr>
          <p:nvPr>
            <p:ph type="title"/>
          </p:nvPr>
        </p:nvSpPr>
        <p:spPr>
          <a:xfrm>
            <a:off x="720000" y="16613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9" name="Google Shape;289;p16"/>
          <p:cNvSpPr txBox="1">
            <a:spLocks noGrp="1"/>
          </p:cNvSpPr>
          <p:nvPr>
            <p:ph type="subTitle" idx="1"/>
          </p:nvPr>
        </p:nvSpPr>
        <p:spPr>
          <a:xfrm>
            <a:off x="720000" y="2247880"/>
            <a:ext cx="2336400" cy="6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16"/>
          <p:cNvSpPr txBox="1">
            <a:spLocks noGrp="1"/>
          </p:cNvSpPr>
          <p:nvPr>
            <p:ph type="title" idx="2"/>
          </p:nvPr>
        </p:nvSpPr>
        <p:spPr>
          <a:xfrm>
            <a:off x="3403800" y="16613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1" name="Google Shape;291;p16"/>
          <p:cNvSpPr txBox="1">
            <a:spLocks noGrp="1"/>
          </p:cNvSpPr>
          <p:nvPr>
            <p:ph type="subTitle" idx="3"/>
          </p:nvPr>
        </p:nvSpPr>
        <p:spPr>
          <a:xfrm>
            <a:off x="3403800" y="2247880"/>
            <a:ext cx="2336400" cy="6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6"/>
          <p:cNvSpPr txBox="1">
            <a:spLocks noGrp="1"/>
          </p:cNvSpPr>
          <p:nvPr>
            <p:ph type="title" idx="4"/>
          </p:nvPr>
        </p:nvSpPr>
        <p:spPr>
          <a:xfrm>
            <a:off x="6087600" y="16613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3" name="Google Shape;293;p16"/>
          <p:cNvSpPr txBox="1">
            <a:spLocks noGrp="1"/>
          </p:cNvSpPr>
          <p:nvPr>
            <p:ph type="subTitle" idx="5"/>
          </p:nvPr>
        </p:nvSpPr>
        <p:spPr>
          <a:xfrm>
            <a:off x="6087600" y="2247880"/>
            <a:ext cx="2336400" cy="6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6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27" name="Google Shape;427;p2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2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2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430;p2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2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2" name="Google Shape;432;p2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3" name="Google Shape;433;p2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34" name="Google Shape;434;p2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name="adj1" fmla="val 2352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36" name="Google Shape;436;p2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37" name="Google Shape;437;p2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38" name="Google Shape;438;p2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9" name="Google Shape;439;p2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3004" extrusionOk="0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avLst/>
                <a:gdLst/>
                <a:ahLst/>
                <a:cxnLst/>
                <a:rect l="l" t="t" r="r" b="b"/>
                <a:pathLst>
                  <a:path w="11043" h="11042" extrusionOk="0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2" name="Google Shape;442;p22"/>
          <p:cNvSpPr txBox="1">
            <a:spLocks noGrp="1"/>
          </p:cNvSpPr>
          <p:nvPr>
            <p:ph type="title"/>
          </p:nvPr>
        </p:nvSpPr>
        <p:spPr>
          <a:xfrm>
            <a:off x="715100" y="2371250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3" name="Google Shape;443;p22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30085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4" name="Google Shape;444;p22"/>
          <p:cNvSpPr txBox="1">
            <a:spLocks noGrp="1"/>
          </p:cNvSpPr>
          <p:nvPr>
            <p:ph type="subTitle" idx="1"/>
          </p:nvPr>
        </p:nvSpPr>
        <p:spPr>
          <a:xfrm>
            <a:off x="715100" y="3545975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06" name="Google Shape;606;p3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Google Shape;607;p3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Google Shape;608;p3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3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3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1" name="Google Shape;611;p3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2" name="Google Shape;612;p3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13" name="Google Shape;613;p3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253750" y="130008"/>
              <a:ext cx="218100" cy="218100"/>
            </a:xfrm>
            <a:prstGeom prst="smileyFace">
              <a:avLst>
                <a:gd name="adj" fmla="val 465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15" name="Google Shape;615;p3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6" name="Google Shape;616;p31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1"/>
          <p:cNvGrpSpPr/>
          <p:nvPr/>
        </p:nvGrpSpPr>
        <p:grpSpPr>
          <a:xfrm>
            <a:off x="8712862" y="137154"/>
            <a:ext cx="132938" cy="218080"/>
            <a:chOff x="4113132" y="2072643"/>
            <a:chExt cx="406290" cy="666503"/>
          </a:xfrm>
        </p:grpSpPr>
        <p:sp>
          <p:nvSpPr>
            <p:cNvPr id="618" name="Google Shape;618;p31"/>
            <p:cNvSpPr/>
            <p:nvPr/>
          </p:nvSpPr>
          <p:spPr>
            <a:xfrm>
              <a:off x="4113132" y="2072643"/>
              <a:ext cx="406290" cy="662825"/>
            </a:xfrm>
            <a:custGeom>
              <a:avLst/>
              <a:gdLst/>
              <a:ahLst/>
              <a:cxnLst/>
              <a:rect l="l" t="t" r="r" b="b"/>
              <a:pathLst>
                <a:path w="11042" h="18014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4260422" y="2367223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4260422" y="2405269"/>
              <a:ext cx="36832" cy="3683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4223590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4186758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4223590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4186758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4149964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4113132" y="2072643"/>
              <a:ext cx="406290" cy="73664"/>
            </a:xfrm>
            <a:custGeom>
              <a:avLst/>
              <a:gdLst/>
              <a:ahLst/>
              <a:cxnLst/>
              <a:rect l="l" t="t" r="r" b="b"/>
              <a:pathLst>
                <a:path w="11042" h="2002" extrusionOk="0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4334049" y="2367223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4334049" y="2405269"/>
              <a:ext cx="36869" cy="36832"/>
            </a:xfrm>
            <a:custGeom>
              <a:avLst/>
              <a:gdLst/>
              <a:ahLst/>
              <a:cxnLst/>
              <a:rect l="l" t="t" r="r" b="b"/>
              <a:pathLst>
                <a:path w="1002" h="1001" extrusionOk="0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4370881" y="2442064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4408927" y="2478895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4370881" y="2330391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429721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4260422" y="2256728"/>
              <a:ext cx="36832" cy="36869"/>
            </a:xfrm>
            <a:custGeom>
              <a:avLst/>
              <a:gdLst/>
              <a:ahLst/>
              <a:cxnLst/>
              <a:rect l="l" t="t" r="r" b="b"/>
              <a:pathLst>
                <a:path w="1001" h="1002" extrusionOk="0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4334049" y="2256728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4408927" y="2293559"/>
              <a:ext cx="36869" cy="36869"/>
            </a:xfrm>
            <a:custGeom>
              <a:avLst/>
              <a:gdLst/>
              <a:ahLst/>
              <a:cxnLst/>
              <a:rect l="l" t="t" r="r" b="b"/>
              <a:pathLst>
                <a:path w="1002" h="1002" extrusionOk="0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4445758" y="2146269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4149964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4113132" y="2663017"/>
              <a:ext cx="406290" cy="76129"/>
            </a:xfrm>
            <a:custGeom>
              <a:avLst/>
              <a:gdLst/>
              <a:ahLst/>
              <a:cxnLst/>
              <a:rect l="l" t="t" r="r" b="b"/>
              <a:pathLst>
                <a:path w="11042" h="2069" extrusionOk="0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4223590" y="2515727"/>
              <a:ext cx="185373" cy="110495"/>
            </a:xfrm>
            <a:custGeom>
              <a:avLst/>
              <a:gdLst/>
              <a:ahLst/>
              <a:cxnLst/>
              <a:rect l="l" t="t" r="r" b="b"/>
              <a:pathLst>
                <a:path w="5038" h="3003" extrusionOk="0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4445758" y="2515727"/>
              <a:ext cx="36832" cy="147327"/>
            </a:xfrm>
            <a:custGeom>
              <a:avLst/>
              <a:gdLst/>
              <a:ahLst/>
              <a:cxnLst/>
              <a:rect l="l" t="t" r="r" b="b"/>
              <a:pathLst>
                <a:path w="1001" h="4004" extrusionOk="0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43" name="Google Shape;643;p3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3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3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3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3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8" name="Google Shape;648;p3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name="adj" fmla="val 204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3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50" name="Google Shape;650;p3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3750" y="130008"/>
              <a:ext cx="218100" cy="218100"/>
            </a:xfrm>
            <a:prstGeom prst="leftRightArrowCallout">
              <a:avLst>
                <a:gd name="adj1" fmla="val 34916"/>
                <a:gd name="adj2" fmla="val 25000"/>
                <a:gd name="adj3" fmla="val 35030"/>
                <a:gd name="adj4" fmla="val 48123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52" name="Google Shape;652;p3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p32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8690995" y="137150"/>
            <a:ext cx="152400" cy="2181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61" r:id="rId7"/>
    <p:sldLayoutId id="2147483662" r:id="rId8"/>
    <p:sldLayoutId id="2147483668" r:id="rId9"/>
    <p:sldLayoutId id="2147483677" r:id="rId10"/>
    <p:sldLayoutId id="214748367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6"/>
          <p:cNvSpPr txBox="1">
            <a:spLocks noGrp="1"/>
          </p:cNvSpPr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fontAlgn="base"/>
            <a:r>
              <a:rPr lang="en-US" sz="32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ea typeface="Cascadia Code SemiBold" panose="020B0609020000020004" pitchFamily="49" charset="0"/>
                <a:cs typeface="Chakra Petch Medium" panose="020B0604020202020204" charset="-34"/>
              </a:rPr>
              <a:t>Smart 5-Story</a:t>
            </a:r>
            <a:br>
              <a:rPr lang="en-US" sz="32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ea typeface="Cascadia Code SemiBold" panose="020B0609020000020004" pitchFamily="49" charset="0"/>
                <a:cs typeface="Chakra Petch Medium" panose="020B0604020202020204" charset="-34"/>
              </a:rPr>
            </a:br>
            <a:r>
              <a:rPr lang="en-US" sz="32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ea typeface="Cascadia Code SemiBold" panose="020B0609020000020004" pitchFamily="49" charset="0"/>
                <a:cs typeface="Chakra Petch Medium" panose="020B0604020202020204" charset="-34"/>
              </a:rPr>
              <a:t>Elevator Simulation</a:t>
            </a:r>
            <a:br>
              <a:rPr lang="en-US" sz="1000" b="1" i="0" dirty="0">
                <a:solidFill>
                  <a:srgbClr val="202124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</a:br>
            <a:endParaRPr lang="en-US" sz="1600" dirty="0">
              <a:solidFill>
                <a:schemeClr val="accent1"/>
              </a:solidFill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  <p:sp>
        <p:nvSpPr>
          <p:cNvPr id="666" name="Google Shape;666;p36"/>
          <p:cNvSpPr txBox="1">
            <a:spLocks noGrp="1"/>
          </p:cNvSpPr>
          <p:nvPr>
            <p:ph type="subTitle" idx="1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hakra Petch Medium" panose="020B0604020202020204" charset="-34"/>
                <a:cs typeface="Chakra Petch Medium" panose="020B0604020202020204" charset="-34"/>
              </a:rPr>
              <a:t>Presented by</a:t>
            </a:r>
            <a:b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</a:b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Team: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 Abdulkader, </a:t>
            </a:r>
            <a:r>
              <a:rPr lang="en-US" sz="1800" b="0" i="0" u="none" strike="noStrike" dirty="0" err="1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Zakri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, Fares</a:t>
            </a:r>
            <a:r>
              <a:rPr lang="en" dirty="0">
                <a:solidFill>
                  <a:schemeClr val="tx1"/>
                </a:solidFill>
                <a:highlight>
                  <a:schemeClr val="dk1"/>
                </a:highlight>
                <a:latin typeface="Chakra Petch Medium" panose="020B0604020202020204" charset="-34"/>
                <a:cs typeface="Chakra Petch Medium" panose="020B0604020202020204" charset="-34"/>
              </a:rPr>
              <a:t> </a:t>
            </a:r>
            <a:endParaRPr dirty="0">
              <a:solidFill>
                <a:schemeClr val="tx1"/>
              </a:solidFill>
              <a:highlight>
                <a:schemeClr val="dk1"/>
              </a:highlight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  <p:pic>
        <p:nvPicPr>
          <p:cNvPr id="1026" name="Picture 2" descr="MATLAB&quot; Icon - Download for free – Iconduck">
            <a:extLst>
              <a:ext uri="{FF2B5EF4-FFF2-40B4-BE49-F238E27FC236}">
                <a16:creationId xmlns:a16="http://schemas.microsoft.com/office/drawing/2014/main" id="{B2CB28B2-DA2E-FD59-81F3-8CC8299A1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646" y="3819436"/>
            <a:ext cx="837154" cy="76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/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sp>
        <p:nvSpPr>
          <p:cNvPr id="795" name="Google Shape;795;p40"/>
          <p:cNvSpPr txBox="1">
            <a:spLocks noGrp="1"/>
          </p:cNvSpPr>
          <p:nvPr>
            <p:ph type="subTitle" idx="1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6" name="Google Shape;796;p40"/>
          <p:cNvSpPr txBox="1">
            <a:spLocks noGrp="1"/>
          </p:cNvSpPr>
          <p:nvPr>
            <p:ph type="title" idx="2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" name="Picture 2" descr="MATLAB&quot; Icon - Download for free – Iconduck">
            <a:extLst>
              <a:ext uri="{FF2B5EF4-FFF2-40B4-BE49-F238E27FC236}">
                <a16:creationId xmlns:a16="http://schemas.microsoft.com/office/drawing/2014/main" id="{CD9B9B87-01EC-49C9-3259-43018F35E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348" y="3888709"/>
            <a:ext cx="837154" cy="76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9828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main Objective</a:t>
            </a:r>
            <a:endParaRPr dirty="0"/>
          </a:p>
        </p:txBody>
      </p:sp>
      <p:sp>
        <p:nvSpPr>
          <p:cNvPr id="857" name="Google Shape;857;p42"/>
          <p:cNvSpPr txBox="1">
            <a:spLocks noGrp="1"/>
          </p:cNvSpPr>
          <p:nvPr>
            <p:ph type="body" idx="1"/>
          </p:nvPr>
        </p:nvSpPr>
        <p:spPr>
          <a:xfrm>
            <a:off x="1972350" y="863550"/>
            <a:ext cx="51993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C0604"/>
              </a:buClr>
              <a:buSzPts val="1100"/>
              <a:buFont typeface="Arial"/>
              <a:buNone/>
            </a:pP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To design and simulate a sophisticated elevator control system using Octave/MATLAB, demonstrating the "Engineer's Logic" in real-time.</a:t>
            </a:r>
            <a:endParaRPr lang="en" dirty="0">
              <a:solidFill>
                <a:schemeClr val="tx1"/>
              </a:solidFill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/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795" name="Google Shape;795;p40"/>
          <p:cNvSpPr txBox="1">
            <a:spLocks noGrp="1"/>
          </p:cNvSpPr>
          <p:nvPr>
            <p:ph type="subTitle" idx="1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6" name="Google Shape;796;p40"/>
          <p:cNvSpPr txBox="1">
            <a:spLocks noGrp="1"/>
          </p:cNvSpPr>
          <p:nvPr>
            <p:ph type="title" idx="2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46211-B6FE-57D3-A4BB-EE70BF910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8737" y="2364788"/>
            <a:ext cx="452437" cy="41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FE7AFD4-DFAB-7700-3DFD-C759D560A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706" y="-603077"/>
            <a:ext cx="452437" cy="45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9ED9E192-A086-F7E2-9441-3AC90EC08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087" y="5405955"/>
            <a:ext cx="452437" cy="45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5DFA259C-82D6-062C-ED69-2B5F55C98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6900" y="2982282"/>
            <a:ext cx="440600" cy="44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DEFCF216-31F3-70BF-8502-6F62C005E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925" y="-599251"/>
            <a:ext cx="440600" cy="44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E1CBDC7B-1120-3B12-41E2-721530FBA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916" y="5409781"/>
            <a:ext cx="440600" cy="44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2A22AFF6-1365-3978-8257-39B67D3BC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862" y="1635912"/>
            <a:ext cx="3240431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>
            <a:extLst>
              <a:ext uri="{FF2B5EF4-FFF2-40B4-BE49-F238E27FC236}">
                <a16:creationId xmlns:a16="http://schemas.microsoft.com/office/drawing/2014/main" id="{01A3D7FE-27E0-8BF1-0D4B-FB2CB0104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572" y="1843386"/>
            <a:ext cx="440600" cy="44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483DAE20-B01C-F845-5ECD-949136ABD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443" y="1635911"/>
            <a:ext cx="3240431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>
            <a:extLst>
              <a:ext uri="{FF2B5EF4-FFF2-40B4-BE49-F238E27FC236}">
                <a16:creationId xmlns:a16="http://schemas.microsoft.com/office/drawing/2014/main" id="{BDC9D678-7E27-B3DD-77AE-2FC15B89A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003" y="1843386"/>
            <a:ext cx="440600" cy="44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14C0F2B-9141-729A-36B8-2C405349E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4719" y="1635913"/>
            <a:ext cx="3240431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EEEF045-1BAC-445B-3EE7-F30D15862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16" y="1835373"/>
            <a:ext cx="440600" cy="44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1A6452-98D3-EB33-A0A8-1044070D8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940099"/>
            <a:ext cx="261937" cy="23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37D31E4D-CBE9-A993-696A-F3D6DDB73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319" y="1940098"/>
            <a:ext cx="261937" cy="26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B85DD36D-BD2B-3BAB-9186-94D3AAAC6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750" y="1940098"/>
            <a:ext cx="261937" cy="26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D5DA8A-0A21-C265-56AE-C2E2CCA9B97A}"/>
              </a:ext>
            </a:extLst>
          </p:cNvPr>
          <p:cNvSpPr txBox="1"/>
          <p:nvPr/>
        </p:nvSpPr>
        <p:spPr>
          <a:xfrm>
            <a:off x="159141" y="2227338"/>
            <a:ext cx="13263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GUI Simulation:</a:t>
            </a:r>
            <a:endParaRPr lang="en-US" b="0" dirty="0">
              <a:solidFill>
                <a:schemeClr val="bg1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AEA8B-5A44-5AD2-D18F-7334FBA9F402}"/>
              </a:ext>
            </a:extLst>
          </p:cNvPr>
          <p:cNvSpPr txBox="1"/>
          <p:nvPr/>
        </p:nvSpPr>
        <p:spPr>
          <a:xfrm>
            <a:off x="159141" y="2648342"/>
            <a:ext cx="264120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A fully interactive 5-story shaft visualization with real-time feedback on car position, door states, and user calls.</a:t>
            </a:r>
            <a:endParaRPr lang="en-US" b="0" dirty="0"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C7DC9C-D328-BA54-A3E6-C186BCABACD8}"/>
              </a:ext>
            </a:extLst>
          </p:cNvPr>
          <p:cNvSpPr txBox="1"/>
          <p:nvPr/>
        </p:nvSpPr>
        <p:spPr>
          <a:xfrm>
            <a:off x="3399572" y="2227338"/>
            <a:ext cx="14211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Smart Regimes:</a:t>
            </a:r>
            <a:endParaRPr lang="en-US" b="0" dirty="0">
              <a:solidFill>
                <a:schemeClr val="bg1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1EBFB2-21B1-D40F-65A7-B9B98E290569}"/>
              </a:ext>
            </a:extLst>
          </p:cNvPr>
          <p:cNvSpPr txBox="1"/>
          <p:nvPr/>
        </p:nvSpPr>
        <p:spPr>
          <a:xfrm>
            <a:off x="3399572" y="2648342"/>
            <a:ext cx="25161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Time-based logic automates elevator behavior: Normal Day mode, Night Security mode, and Rush Hour optimization.</a:t>
            </a:r>
            <a:endParaRPr lang="en-US" b="0" dirty="0"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1898DD-8E7D-D6D9-83DF-E0765D3E030D}"/>
              </a:ext>
            </a:extLst>
          </p:cNvPr>
          <p:cNvSpPr txBox="1"/>
          <p:nvPr/>
        </p:nvSpPr>
        <p:spPr>
          <a:xfrm>
            <a:off x="6723750" y="2756768"/>
            <a:ext cx="25161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Three distinct protocols: Fire (Ground), Flood (Top), and Storm (Middle) to ensure passenger safety.</a:t>
            </a:r>
            <a:endParaRPr lang="en-US" b="0" dirty="0"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D79DA3-9B00-CAE9-B3E9-17A7C1EE63ED}"/>
              </a:ext>
            </a:extLst>
          </p:cNvPr>
          <p:cNvSpPr txBox="1"/>
          <p:nvPr/>
        </p:nvSpPr>
        <p:spPr>
          <a:xfrm>
            <a:off x="6723750" y="2279715"/>
            <a:ext cx="16097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Emergency Logic:</a:t>
            </a:r>
            <a:endParaRPr lang="en-US" b="0" dirty="0">
              <a:solidFill>
                <a:schemeClr val="bg1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24" name="Google Shape;794;p40">
            <a:extLst>
              <a:ext uri="{FF2B5EF4-FFF2-40B4-BE49-F238E27FC236}">
                <a16:creationId xmlns:a16="http://schemas.microsoft.com/office/drawing/2014/main" id="{478565AE-8923-5650-591A-98BEEF082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8750" y="50561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141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/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795" name="Google Shape;795;p40"/>
          <p:cNvSpPr txBox="1">
            <a:spLocks noGrp="1"/>
          </p:cNvSpPr>
          <p:nvPr>
            <p:ph type="subTitle" idx="1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6" name="Google Shape;796;p40"/>
          <p:cNvSpPr txBox="1">
            <a:spLocks noGrp="1"/>
          </p:cNvSpPr>
          <p:nvPr>
            <p:ph type="title" idx="2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8806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6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984" name="Google Shape;984;p46"/>
          <p:cNvSpPr txBox="1">
            <a:spLocks noGrp="1"/>
          </p:cNvSpPr>
          <p:nvPr>
            <p:ph type="subTitle" idx="1"/>
          </p:nvPr>
        </p:nvSpPr>
        <p:spPr>
          <a:xfrm>
            <a:off x="2056084" y="1136620"/>
            <a:ext cx="2336400" cy="6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FCFS 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Chakra Petch Medium" panose="020B0604020202020204" charset="-34"/>
                <a:cs typeface="Chakra Petch Medium" panose="020B0604020202020204" charset="-34"/>
              </a:rPr>
              <a:t>Simple</a:t>
            </a:r>
            <a:endParaRPr dirty="0">
              <a:solidFill>
                <a:schemeClr val="tx1"/>
              </a:solidFill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  <p:sp>
        <p:nvSpPr>
          <p:cNvPr id="986" name="Google Shape;986;p46"/>
          <p:cNvSpPr txBox="1">
            <a:spLocks noGrp="1"/>
          </p:cNvSpPr>
          <p:nvPr>
            <p:ph type="subTitle" idx="3"/>
          </p:nvPr>
        </p:nvSpPr>
        <p:spPr>
          <a:xfrm>
            <a:off x="1917409" y="2541661"/>
            <a:ext cx="2613749" cy="73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The elevator treats requests like a grocery line. If the lift is at floor 0, and requests come from 4 then 2, it travels all the way to 4, then back to 2. Highly inefficient.</a:t>
            </a:r>
            <a:endParaRPr dirty="0">
              <a:solidFill>
                <a:schemeClr val="tx1"/>
              </a:solidFill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  <p:sp>
        <p:nvSpPr>
          <p:cNvPr id="988" name="Google Shape;988;p46"/>
          <p:cNvSpPr txBox="1">
            <a:spLocks noGrp="1"/>
          </p:cNvSpPr>
          <p:nvPr>
            <p:ph type="subTitle" idx="5"/>
          </p:nvPr>
        </p:nvSpPr>
        <p:spPr>
          <a:xfrm>
            <a:off x="4612834" y="3212673"/>
            <a:ext cx="2695426" cy="2393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The industry standard. The elevator prioritizes the nearest call in its current direction of travel. Moves 0 -&gt; 2 -&gt; 4. Reduces total travel distance significantly.</a:t>
            </a:r>
            <a:endParaRPr lang="en-US" b="0" dirty="0">
              <a:solidFill>
                <a:schemeClr val="tx1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dirty="0"/>
          </a:p>
        </p:txBody>
      </p:sp>
      <p:sp>
        <p:nvSpPr>
          <p:cNvPr id="2" name="Google Shape;981;p46">
            <a:extLst>
              <a:ext uri="{FF2B5EF4-FFF2-40B4-BE49-F238E27FC236}">
                <a16:creationId xmlns:a16="http://schemas.microsoft.com/office/drawing/2014/main" id="{07DB6111-55F0-91DE-9058-ADBBCBFE840D}"/>
              </a:ext>
            </a:extLst>
          </p:cNvPr>
          <p:cNvSpPr/>
          <p:nvPr/>
        </p:nvSpPr>
        <p:spPr>
          <a:xfrm>
            <a:off x="1876573" y="1695451"/>
            <a:ext cx="5535188" cy="2895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984;p46">
            <a:extLst>
              <a:ext uri="{FF2B5EF4-FFF2-40B4-BE49-F238E27FC236}">
                <a16:creationId xmlns:a16="http://schemas.microsoft.com/office/drawing/2014/main" id="{8BB90E83-7D82-CED5-5AEA-C05BA84BFBD3}"/>
              </a:ext>
            </a:extLst>
          </p:cNvPr>
          <p:cNvSpPr txBox="1">
            <a:spLocks/>
          </p:cNvSpPr>
          <p:nvPr/>
        </p:nvSpPr>
        <p:spPr>
          <a:xfrm>
            <a:off x="5075361" y="1139765"/>
            <a:ext cx="23364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sz="1800" b="0" i="0" u="none" strike="noStrike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Chakra Petch Medium" panose="020B0604020202020204" charset="-34"/>
                <a:cs typeface="Chakra Petch Medium" panose="020B0604020202020204" charset="-34"/>
              </a:rPr>
              <a:t>SCAN</a:t>
            </a:r>
            <a:r>
              <a:rPr lang="en-US" sz="1800" b="0" i="0" u="none" strike="noStrike" dirty="0">
                <a:solidFill>
                  <a:srgbClr val="DEFF9A"/>
                </a:solidFill>
                <a:effectLst/>
                <a:latin typeface="Urbanis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hakra Petch Medium" panose="020B0604020202020204" charset="-34"/>
                <a:cs typeface="Chakra Petch Medium" panose="020B0604020202020204" charset="-34"/>
              </a:rPr>
              <a:t> Smart</a:t>
            </a:r>
            <a:endParaRPr lang="en-US" dirty="0">
              <a:solidFill>
                <a:schemeClr val="tx1"/>
              </a:solidFill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0"/>
          <p:cNvSpPr txBox="1">
            <a:spLocks noGrp="1"/>
          </p:cNvSpPr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Findings</a:t>
            </a:r>
            <a:endParaRPr dirty="0"/>
          </a:p>
        </p:txBody>
      </p:sp>
      <p:sp>
        <p:nvSpPr>
          <p:cNvPr id="796" name="Google Shape;796;p40"/>
          <p:cNvSpPr txBox="1">
            <a:spLocks noGrp="1"/>
          </p:cNvSpPr>
          <p:nvPr>
            <p:ph type="title" idx="2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1897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531D416-0AEA-BCC7-CCF0-A87D3E3E6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07" y="1628775"/>
            <a:ext cx="7541018" cy="290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984;p46">
            <a:extLst>
              <a:ext uri="{FF2B5EF4-FFF2-40B4-BE49-F238E27FC236}">
                <a16:creationId xmlns:a16="http://schemas.microsoft.com/office/drawing/2014/main" id="{73520313-371F-FE89-747D-6BA9091A9B3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287066" y="2336770"/>
            <a:ext cx="2336400" cy="6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FCFS </a:t>
            </a:r>
            <a:r>
              <a:rPr lang="en-US" sz="1800" b="0" i="0" u="none" strike="noStrike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Chakra Petch Medium" panose="020B0604020202020204" charset="-34"/>
                <a:cs typeface="Chakra Petch Medium" panose="020B0604020202020204" charset="-34"/>
              </a:rPr>
              <a:t>Travel</a:t>
            </a:r>
            <a:endParaRPr dirty="0">
              <a:solidFill>
                <a:schemeClr val="tx1"/>
              </a:solidFill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  <p:sp>
        <p:nvSpPr>
          <p:cNvPr id="8" name="Google Shape;984;p46">
            <a:extLst>
              <a:ext uri="{FF2B5EF4-FFF2-40B4-BE49-F238E27FC236}">
                <a16:creationId xmlns:a16="http://schemas.microsoft.com/office/drawing/2014/main" id="{56B0CCA7-1409-E5D5-54BB-369B39DCC96E}"/>
              </a:ext>
            </a:extLst>
          </p:cNvPr>
          <p:cNvSpPr txBox="1">
            <a:spLocks/>
          </p:cNvSpPr>
          <p:nvPr/>
        </p:nvSpPr>
        <p:spPr>
          <a:xfrm>
            <a:off x="-287066" y="2745637"/>
            <a:ext cx="23364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SCAN</a:t>
            </a:r>
            <a:r>
              <a:rPr lang="en-US" sz="1800" b="0" i="0" u="none" strike="noStrike" dirty="0">
                <a:solidFill>
                  <a:srgbClr val="DEFF9A"/>
                </a:solidFill>
                <a:effectLst/>
                <a:latin typeface="Urbanis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hakra Petch Medium" panose="020B0604020202020204" charset="-34"/>
                <a:cs typeface="Chakra Petch Medium" panose="020B0604020202020204" charset="-34"/>
              </a:rPr>
              <a:t> </a:t>
            </a:r>
            <a:r>
              <a:rPr lang="en-US" sz="1800" dirty="0">
                <a:solidFill>
                  <a:schemeClr val="bg1"/>
                </a:solidFill>
                <a:highlight>
                  <a:srgbClr val="000000"/>
                </a:highlight>
                <a:latin typeface="Chakra Petch Medium" panose="020B0604020202020204" charset="-34"/>
                <a:cs typeface="Chakra Petch Medium" panose="020B0604020202020204" charset="-34"/>
              </a:rPr>
              <a:t>Travel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1639B-E032-95D4-1FB4-9B5E6A5E9813}"/>
              </a:ext>
            </a:extLst>
          </p:cNvPr>
          <p:cNvSpPr txBox="1"/>
          <p:nvPr/>
        </p:nvSpPr>
        <p:spPr>
          <a:xfrm>
            <a:off x="538163" y="828578"/>
            <a:ext cx="47148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4. Findings: Efficiency Data</a:t>
            </a:r>
            <a:endParaRPr lang="en-US" sz="2800" b="0" dirty="0">
              <a:solidFill>
                <a:schemeClr val="tx1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D7C18-1018-E2BA-82D6-971CC0481430}"/>
              </a:ext>
            </a:extLst>
          </p:cNvPr>
          <p:cNvSpPr txBox="1"/>
          <p:nvPr/>
        </p:nvSpPr>
        <p:spPr>
          <a:xfrm>
            <a:off x="2214563" y="3443174"/>
            <a:ext cx="47148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400" b="0" i="1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The SCAN algorithm demonstrated a </a:t>
            </a:r>
            <a:r>
              <a:rPr lang="en-US" sz="1400" b="1" i="1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30% reduction</a:t>
            </a:r>
            <a:r>
              <a:rPr lang="en-US" sz="1400" b="0" i="1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 in total travel distance compared to FCFS during random usage scenarios, validating the "Smart" logic implementation.</a:t>
            </a:r>
            <a:endParaRPr lang="en-US" b="0" dirty="0">
              <a:solidFill>
                <a:schemeClr val="tx1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5A0B7D-E817-DCD3-D5E6-46A7BA123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66900" y="2464581"/>
            <a:ext cx="785903" cy="2143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AAF7CB-FB40-A1C7-1179-80C129CD7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082" y="5573219"/>
            <a:ext cx="833694" cy="2227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7E6E1D-2FC9-63D8-5384-55F132E18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3357" y="2809695"/>
            <a:ext cx="800099" cy="198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Elevator GUI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BFA02-5FE5-3961-057D-BAAF8C20A4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12490" y="1101207"/>
            <a:ext cx="5396673" cy="3745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67E796-D47E-5D97-642E-4A59CD497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130782"/>
            <a:ext cx="785903" cy="214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02AFFA-A9B2-4E4C-D6B9-22C14D8C3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907" y="3130782"/>
            <a:ext cx="833694" cy="222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B1BBB-16A9-8099-94FA-3756A50D9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517" y="3155050"/>
            <a:ext cx="800099" cy="19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40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7"/>
          <p:cNvSpPr txBox="1">
            <a:spLocks noGrp="1"/>
          </p:cNvSpPr>
          <p:nvPr>
            <p:ph type="title" idx="2"/>
          </p:nvPr>
        </p:nvSpPr>
        <p:spPr>
          <a:xfrm>
            <a:off x="715100" y="1007920"/>
            <a:ext cx="453340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</a:t>
            </a:r>
            <a:r>
              <a:rPr lang="en-GB" dirty="0"/>
              <a:t>e</a:t>
            </a:r>
            <a:r>
              <a:rPr lang="en" dirty="0"/>
              <a:t>nges &amp; Solutions</a:t>
            </a:r>
            <a:endParaRPr dirty="0"/>
          </a:p>
        </p:txBody>
      </p:sp>
      <p:grpSp>
        <p:nvGrpSpPr>
          <p:cNvPr id="999" name="Google Shape;999;p47"/>
          <p:cNvGrpSpPr/>
          <p:nvPr/>
        </p:nvGrpSpPr>
        <p:grpSpPr>
          <a:xfrm>
            <a:off x="6168919" y="1028962"/>
            <a:ext cx="1747042" cy="1056990"/>
            <a:chOff x="6168919" y="1028962"/>
            <a:chExt cx="1747042" cy="1056990"/>
          </a:xfrm>
        </p:grpSpPr>
        <p:grpSp>
          <p:nvGrpSpPr>
            <p:cNvPr id="1000" name="Google Shape;1000;p47"/>
            <p:cNvGrpSpPr/>
            <p:nvPr/>
          </p:nvGrpSpPr>
          <p:grpSpPr>
            <a:xfrm flipH="1">
              <a:off x="6168919" y="1028962"/>
              <a:ext cx="1747042" cy="1056990"/>
              <a:chOff x="5321775" y="2961603"/>
              <a:chExt cx="922847" cy="558338"/>
            </a:xfrm>
          </p:grpSpPr>
          <p:sp>
            <p:nvSpPr>
              <p:cNvPr id="1001" name="Google Shape;1001;p47"/>
              <p:cNvSpPr/>
              <p:nvPr/>
            </p:nvSpPr>
            <p:spPr>
              <a:xfrm>
                <a:off x="5434347" y="2961603"/>
                <a:ext cx="699987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20116" h="634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0115" y="634"/>
                    </a:lnTo>
                    <a:lnTo>
                      <a:pt x="201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7"/>
              <p:cNvSpPr/>
              <p:nvPr/>
            </p:nvSpPr>
            <p:spPr>
              <a:xfrm>
                <a:off x="5981096" y="3386420"/>
                <a:ext cx="20913" cy="112640"/>
              </a:xfrm>
              <a:custGeom>
                <a:avLst/>
                <a:gdLst/>
                <a:ahLst/>
                <a:cxnLst/>
                <a:rect l="l" t="t" r="r" b="b"/>
                <a:pathLst>
                  <a:path w="601" h="3237" extrusionOk="0">
                    <a:moveTo>
                      <a:pt x="0" y="1"/>
                    </a:moveTo>
                    <a:lnTo>
                      <a:pt x="0" y="3236"/>
                    </a:lnTo>
                    <a:lnTo>
                      <a:pt x="600" y="3236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7"/>
              <p:cNvSpPr/>
              <p:nvPr/>
            </p:nvSpPr>
            <p:spPr>
              <a:xfrm>
                <a:off x="5957851" y="3499027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7"/>
              <p:cNvSpPr/>
              <p:nvPr/>
            </p:nvSpPr>
            <p:spPr>
              <a:xfrm>
                <a:off x="5935824" y="3476965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7"/>
              <p:cNvSpPr/>
              <p:nvPr/>
            </p:nvSpPr>
            <p:spPr>
              <a:xfrm>
                <a:off x="5912579" y="3453755"/>
                <a:ext cx="22096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35" y="601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7"/>
              <p:cNvSpPr/>
              <p:nvPr/>
            </p:nvSpPr>
            <p:spPr>
              <a:xfrm>
                <a:off x="5890551" y="3431693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1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47"/>
              <p:cNvSpPr/>
              <p:nvPr/>
            </p:nvSpPr>
            <p:spPr>
              <a:xfrm>
                <a:off x="5869638" y="3408482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47"/>
              <p:cNvSpPr/>
              <p:nvPr/>
            </p:nvSpPr>
            <p:spPr>
              <a:xfrm>
                <a:off x="5846427" y="3386420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01" y="635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7"/>
              <p:cNvSpPr/>
              <p:nvPr/>
            </p:nvSpPr>
            <p:spPr>
              <a:xfrm>
                <a:off x="5321775" y="3073027"/>
                <a:ext cx="22062" cy="22406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439" extrusionOk="0">
                    <a:moveTo>
                      <a:pt x="0" y="0"/>
                    </a:moveTo>
                    <a:lnTo>
                      <a:pt x="0" y="6438"/>
                    </a:lnTo>
                    <a:lnTo>
                      <a:pt x="634" y="6438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7"/>
              <p:cNvSpPr/>
              <p:nvPr/>
            </p:nvSpPr>
            <p:spPr>
              <a:xfrm>
                <a:off x="5321775" y="3073027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7"/>
              <p:cNvSpPr/>
              <p:nvPr/>
            </p:nvSpPr>
            <p:spPr>
              <a:xfrm>
                <a:off x="5343802" y="3050965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7"/>
              <p:cNvSpPr/>
              <p:nvPr/>
            </p:nvSpPr>
            <p:spPr>
              <a:xfrm>
                <a:off x="5367047" y="3028902"/>
                <a:ext cx="22062" cy="20948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2" extrusionOk="0">
                    <a:moveTo>
                      <a:pt x="0" y="1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7"/>
              <p:cNvSpPr/>
              <p:nvPr/>
            </p:nvSpPr>
            <p:spPr>
              <a:xfrm>
                <a:off x="5389075" y="3006840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7"/>
              <p:cNvSpPr/>
              <p:nvPr/>
            </p:nvSpPr>
            <p:spPr>
              <a:xfrm>
                <a:off x="5412320" y="2984813"/>
                <a:ext cx="22062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4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7"/>
              <p:cNvSpPr/>
              <p:nvPr/>
            </p:nvSpPr>
            <p:spPr>
              <a:xfrm>
                <a:off x="6223674" y="3073027"/>
                <a:ext cx="20948" cy="224061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39" extrusionOk="0">
                    <a:moveTo>
                      <a:pt x="1" y="0"/>
                    </a:moveTo>
                    <a:lnTo>
                      <a:pt x="1" y="6438"/>
                    </a:lnTo>
                    <a:lnTo>
                      <a:pt x="601" y="6438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7"/>
              <p:cNvSpPr/>
              <p:nvPr/>
            </p:nvSpPr>
            <p:spPr>
              <a:xfrm>
                <a:off x="6223674" y="3073027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7"/>
              <p:cNvSpPr/>
              <p:nvPr/>
            </p:nvSpPr>
            <p:spPr>
              <a:xfrm>
                <a:off x="6201612" y="3050965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7"/>
              <p:cNvSpPr/>
              <p:nvPr/>
            </p:nvSpPr>
            <p:spPr>
              <a:xfrm>
                <a:off x="6178402" y="3028902"/>
                <a:ext cx="20948" cy="20948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2" extrusionOk="0">
                    <a:moveTo>
                      <a:pt x="1" y="1"/>
                    </a:moveTo>
                    <a:lnTo>
                      <a:pt x="1" y="601"/>
                    </a:lnTo>
                    <a:lnTo>
                      <a:pt x="601" y="601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7"/>
              <p:cNvSpPr/>
              <p:nvPr/>
            </p:nvSpPr>
            <p:spPr>
              <a:xfrm>
                <a:off x="6156340" y="3006840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47"/>
              <p:cNvSpPr/>
              <p:nvPr/>
            </p:nvSpPr>
            <p:spPr>
              <a:xfrm>
                <a:off x="6134313" y="2984813"/>
                <a:ext cx="22062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4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47"/>
              <p:cNvSpPr/>
              <p:nvPr/>
            </p:nvSpPr>
            <p:spPr>
              <a:xfrm>
                <a:off x="5434347" y="3386420"/>
                <a:ext cx="435317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12510" y="635"/>
                    </a:lnTo>
                    <a:lnTo>
                      <a:pt x="1251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47"/>
              <p:cNvSpPr/>
              <p:nvPr/>
            </p:nvSpPr>
            <p:spPr>
              <a:xfrm>
                <a:off x="5981096" y="3386420"/>
                <a:ext cx="1532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635" extrusionOk="0">
                    <a:moveTo>
                      <a:pt x="0" y="1"/>
                    </a:moveTo>
                    <a:lnTo>
                      <a:pt x="0" y="635"/>
                    </a:lnTo>
                    <a:lnTo>
                      <a:pt x="4403" y="635"/>
                    </a:lnTo>
                    <a:lnTo>
                      <a:pt x="440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47"/>
              <p:cNvSpPr/>
              <p:nvPr/>
            </p:nvSpPr>
            <p:spPr>
              <a:xfrm>
                <a:off x="6223674" y="3274996"/>
                <a:ext cx="20948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01" y="634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47"/>
              <p:cNvSpPr/>
              <p:nvPr/>
            </p:nvSpPr>
            <p:spPr>
              <a:xfrm>
                <a:off x="6201612" y="329705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47"/>
              <p:cNvSpPr/>
              <p:nvPr/>
            </p:nvSpPr>
            <p:spPr>
              <a:xfrm>
                <a:off x="6178402" y="3320269"/>
                <a:ext cx="20948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601" y="601"/>
                    </a:lnTo>
                    <a:lnTo>
                      <a:pt x="60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47"/>
              <p:cNvSpPr/>
              <p:nvPr/>
            </p:nvSpPr>
            <p:spPr>
              <a:xfrm>
                <a:off x="6156340" y="334114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47"/>
              <p:cNvSpPr/>
              <p:nvPr/>
            </p:nvSpPr>
            <p:spPr>
              <a:xfrm>
                <a:off x="6134313" y="3365541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47"/>
              <p:cNvSpPr/>
              <p:nvPr/>
            </p:nvSpPr>
            <p:spPr>
              <a:xfrm>
                <a:off x="5321775" y="3274996"/>
                <a:ext cx="22062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35" extrusionOk="0">
                    <a:moveTo>
                      <a:pt x="0" y="0"/>
                    </a:moveTo>
                    <a:lnTo>
                      <a:pt x="0" y="634"/>
                    </a:lnTo>
                    <a:lnTo>
                      <a:pt x="634" y="634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47"/>
              <p:cNvSpPr/>
              <p:nvPr/>
            </p:nvSpPr>
            <p:spPr>
              <a:xfrm>
                <a:off x="5343802" y="329705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635" y="634"/>
                    </a:ln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47"/>
              <p:cNvSpPr/>
              <p:nvPr/>
            </p:nvSpPr>
            <p:spPr>
              <a:xfrm>
                <a:off x="5367047" y="3320269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47"/>
              <p:cNvSpPr/>
              <p:nvPr/>
            </p:nvSpPr>
            <p:spPr>
              <a:xfrm>
                <a:off x="5389075" y="3341148"/>
                <a:ext cx="22096" cy="2209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635" y="635"/>
                    </a:lnTo>
                    <a:lnTo>
                      <a:pt x="63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47"/>
              <p:cNvSpPr/>
              <p:nvPr/>
            </p:nvSpPr>
            <p:spPr>
              <a:xfrm>
                <a:off x="5412320" y="3365541"/>
                <a:ext cx="22062" cy="20913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01" extrusionOk="0">
                    <a:moveTo>
                      <a:pt x="0" y="0"/>
                    </a:moveTo>
                    <a:lnTo>
                      <a:pt x="0" y="601"/>
                    </a:lnTo>
                    <a:lnTo>
                      <a:pt x="634" y="601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3" name="Google Shape;1033;p47"/>
            <p:cNvSpPr txBox="1"/>
            <p:nvPr/>
          </p:nvSpPr>
          <p:spPr>
            <a:xfrm>
              <a:off x="6206775" y="1242125"/>
              <a:ext cx="1671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Fira Code"/>
                  <a:ea typeface="Fira Code"/>
                  <a:cs typeface="Fira Code"/>
                  <a:sym typeface="Fira Code"/>
                </a:rPr>
                <a:t>404 NOT FOUND</a:t>
              </a:r>
              <a:endParaRPr sz="1500" dirty="0"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CC2DE0D-D3BA-EFBF-0265-559CB9941DB9}"/>
              </a:ext>
            </a:extLst>
          </p:cNvPr>
          <p:cNvSpPr txBox="1"/>
          <p:nvPr/>
        </p:nvSpPr>
        <p:spPr>
          <a:xfrm>
            <a:off x="323850" y="228960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The "Floor Skipping" Bug</a:t>
            </a:r>
            <a:endParaRPr lang="en-US" b="0" dirty="0">
              <a:solidFill>
                <a:schemeClr val="tx1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0F555-4C2A-0F60-10EE-B54DBE2385AC}"/>
              </a:ext>
            </a:extLst>
          </p:cNvPr>
          <p:cNvSpPr txBox="1"/>
          <p:nvPr/>
        </p:nvSpPr>
        <p:spPr>
          <a:xfrm>
            <a:off x="323850" y="2557902"/>
            <a:ext cx="41667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chemeClr val="bg2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Challenge:</a:t>
            </a:r>
            <a:r>
              <a:rPr lang="en-US" sz="1400" b="0" i="0" u="none" strike="noStrike" dirty="0">
                <a:solidFill>
                  <a:schemeClr val="bg2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 Due to floating-point precision errors (e.g., position = 1.99999 vs 2.0), the elevator would occasionally fail to detect it had arrived at a floor, causing it to skip stops.</a:t>
            </a:r>
            <a:endParaRPr lang="en-US" b="0" dirty="0">
              <a:solidFill>
                <a:schemeClr val="bg2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290B9-2F29-D376-4784-880C8AD7EDD1}"/>
              </a:ext>
            </a:extLst>
          </p:cNvPr>
          <p:cNvSpPr txBox="1"/>
          <p:nvPr/>
        </p:nvSpPr>
        <p:spPr>
          <a:xfrm>
            <a:off x="4490595" y="228960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chemeClr val="tx1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The Solution</a:t>
            </a:r>
            <a:endParaRPr lang="en-US" b="0" dirty="0">
              <a:solidFill>
                <a:schemeClr val="tx1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CC0BB-778F-4A03-E876-A31D0876D62A}"/>
              </a:ext>
            </a:extLst>
          </p:cNvPr>
          <p:cNvSpPr txBox="1"/>
          <p:nvPr/>
        </p:nvSpPr>
        <p:spPr>
          <a:xfrm>
            <a:off x="4490595" y="2487634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chemeClr val="bg2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Snap-to-Floor Logic:</a:t>
            </a:r>
            <a:r>
              <a:rPr lang="en-US" sz="1400" b="0" i="0" u="none" strike="noStrike" dirty="0">
                <a:solidFill>
                  <a:schemeClr val="bg2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 We implemented a tolerance window (arrival threshold &gt; speed) and a "snap" function that forces the elevator's position to the exact integer value upon arrival, ensuring consistent door operations.</a:t>
            </a:r>
            <a:endParaRPr lang="en-US" b="0" dirty="0">
              <a:solidFill>
                <a:schemeClr val="bg2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 Model 12" descr="Male icon">
                <a:extLst>
                  <a:ext uri="{FF2B5EF4-FFF2-40B4-BE49-F238E27FC236}">
                    <a16:creationId xmlns:a16="http://schemas.microsoft.com/office/drawing/2014/main" id="{DA947129-973C-6A94-5678-7ADA354113E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2768737"/>
                  </p:ext>
                </p:extLst>
              </p:nvPr>
            </p:nvGraphicFramePr>
            <p:xfrm>
              <a:off x="-1275465" y="4435056"/>
              <a:ext cx="579931" cy="172078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79931" cy="1720781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4557223" ay="1683052" az="371914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3292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 Model 12" descr="Male icon">
                <a:extLst>
                  <a:ext uri="{FF2B5EF4-FFF2-40B4-BE49-F238E27FC236}">
                    <a16:creationId xmlns:a16="http://schemas.microsoft.com/office/drawing/2014/main" id="{DA947129-973C-6A94-5678-7ADA354113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75465" y="4435056"/>
                <a:ext cx="579931" cy="17207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 descr="Male icon">
                <a:extLst>
                  <a:ext uri="{FF2B5EF4-FFF2-40B4-BE49-F238E27FC236}">
                    <a16:creationId xmlns:a16="http://schemas.microsoft.com/office/drawing/2014/main" id="{B34E8958-EBAD-96F5-94EE-2A2762F8B14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4438265"/>
                  </p:ext>
                </p:extLst>
              </p:nvPr>
            </p:nvGraphicFramePr>
            <p:xfrm>
              <a:off x="10387635" y="416316"/>
              <a:ext cx="751059" cy="202500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751059" cy="2025007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7306262" ay="1929397" az="-244055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3292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 descr="Male icon">
                <a:extLst>
                  <a:ext uri="{FF2B5EF4-FFF2-40B4-BE49-F238E27FC236}">
                    <a16:creationId xmlns:a16="http://schemas.microsoft.com/office/drawing/2014/main" id="{B34E8958-EBAD-96F5-94EE-2A2762F8B1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87635" y="416316"/>
                <a:ext cx="751059" cy="2025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3D Model 14" descr="Male icon">
                <a:extLst>
                  <a:ext uri="{FF2B5EF4-FFF2-40B4-BE49-F238E27FC236}">
                    <a16:creationId xmlns:a16="http://schemas.microsoft.com/office/drawing/2014/main" id="{39F49D6D-1A33-FB33-4BCD-D8934F91F88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92791156"/>
                  </p:ext>
                </p:extLst>
              </p:nvPr>
            </p:nvGraphicFramePr>
            <p:xfrm>
              <a:off x="10104445" y="4235268"/>
              <a:ext cx="775359" cy="212035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775359" cy="2120355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10686531" ay="529698" az="-1741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32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3D Model 14" descr="Male icon">
                <a:extLst>
                  <a:ext uri="{FF2B5EF4-FFF2-40B4-BE49-F238E27FC236}">
                    <a16:creationId xmlns:a16="http://schemas.microsoft.com/office/drawing/2014/main" id="{39F49D6D-1A33-FB33-4BCD-D8934F91F8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04445" y="4235268"/>
                <a:ext cx="775359" cy="212035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6E14D8-C9FC-FA18-5AEE-E889D5F0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00" y="866775"/>
            <a:ext cx="4285575" cy="391238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tx1"/>
                </a:solidFill>
                <a:latin typeface="Chakra Petch Medium" panose="020B0604020202020204" charset="-34"/>
                <a:cs typeface="Chakra Petch Medium" panose="020B0604020202020204" charset="-34"/>
              </a:rPr>
              <a:t>Team Contributions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Male icon">
                <a:extLst>
                  <a:ext uri="{FF2B5EF4-FFF2-40B4-BE49-F238E27FC236}">
                    <a16:creationId xmlns:a16="http://schemas.microsoft.com/office/drawing/2014/main" id="{BC4C0BC2-DF00-C573-A6FB-FE41FAAC54C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31127108"/>
                  </p:ext>
                </p:extLst>
              </p:nvPr>
            </p:nvGraphicFramePr>
            <p:xfrm>
              <a:off x="391200" y="1622005"/>
              <a:ext cx="770850" cy="218799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70850" cy="2187996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3292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Male icon">
                <a:extLst>
                  <a:ext uri="{FF2B5EF4-FFF2-40B4-BE49-F238E27FC236}">
                    <a16:creationId xmlns:a16="http://schemas.microsoft.com/office/drawing/2014/main" id="{BC4C0BC2-DF00-C573-A6FB-FE41FAAC54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200" y="1622005"/>
                <a:ext cx="770850" cy="2187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Male icon">
                <a:extLst>
                  <a:ext uri="{FF2B5EF4-FFF2-40B4-BE49-F238E27FC236}">
                    <a16:creationId xmlns:a16="http://schemas.microsoft.com/office/drawing/2014/main" id="{9072B9E0-DD45-1E0F-84A8-BCE9F6DBCC6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9150497"/>
                  </p:ext>
                </p:extLst>
              </p:nvPr>
            </p:nvGraphicFramePr>
            <p:xfrm>
              <a:off x="3302702" y="1709904"/>
              <a:ext cx="772721" cy="210009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72721" cy="2100097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 ax="-44462" ay="-397451" az="512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3292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Male icon">
                <a:extLst>
                  <a:ext uri="{FF2B5EF4-FFF2-40B4-BE49-F238E27FC236}">
                    <a16:creationId xmlns:a16="http://schemas.microsoft.com/office/drawing/2014/main" id="{9072B9E0-DD45-1E0F-84A8-BCE9F6DBCC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2702" y="1709904"/>
                <a:ext cx="772721" cy="2100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Male icon">
                <a:extLst>
                  <a:ext uri="{FF2B5EF4-FFF2-40B4-BE49-F238E27FC236}">
                    <a16:creationId xmlns:a16="http://schemas.microsoft.com/office/drawing/2014/main" id="{B4E5EF22-DADB-8DD1-605B-EA031D14542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59048245"/>
                  </p:ext>
                </p:extLst>
              </p:nvPr>
            </p:nvGraphicFramePr>
            <p:xfrm>
              <a:off x="6216075" y="1622005"/>
              <a:ext cx="770850" cy="218799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70850" cy="2187996"/>
                    </a:xfrm>
                    <a:prstGeom prst="rect">
                      <a:avLst/>
                    </a:prstGeom>
                  </am3d:spPr>
                  <am3d:camera>
                    <am3d:pos x="0" y="0" z="503166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29133" d="1000000"/>
                    <am3d:preTrans dx="0" dy="-18000000" dz="245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3292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Male icon">
                <a:extLst>
                  <a:ext uri="{FF2B5EF4-FFF2-40B4-BE49-F238E27FC236}">
                    <a16:creationId xmlns:a16="http://schemas.microsoft.com/office/drawing/2014/main" id="{B4E5EF22-DADB-8DD1-605B-EA031D1454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6075" y="1622005"/>
                <a:ext cx="770850" cy="2187996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82BDDD3-A895-8E98-B363-397CB58483D0}"/>
              </a:ext>
            </a:extLst>
          </p:cNvPr>
          <p:cNvSpPr txBox="1"/>
          <p:nvPr/>
        </p:nvSpPr>
        <p:spPr>
          <a:xfrm>
            <a:off x="1361737" y="1907828"/>
            <a:ext cx="159067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chemeClr val="tx1"/>
                </a:solidFill>
                <a:effectLst/>
                <a:latin typeface="Urbanist"/>
              </a:rPr>
              <a:t>Abdulkader Jalal</a:t>
            </a:r>
            <a:br>
              <a:rPr lang="en-US" sz="2000" b="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en-US" sz="1400" b="0" i="0" u="none" strike="noStrike" dirty="0">
                <a:solidFill>
                  <a:schemeClr val="bg2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Lead Software Engineer. Responsible for core MATLAB architecture, GUI implementation, and the SCAN algorithm logic.</a:t>
            </a:r>
            <a:endParaRPr lang="en-US" b="0" dirty="0">
              <a:solidFill>
                <a:schemeClr val="bg2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55140D-F9E0-5B4E-8506-F4D0C83269F8}"/>
              </a:ext>
            </a:extLst>
          </p:cNvPr>
          <p:cNvSpPr txBox="1"/>
          <p:nvPr/>
        </p:nvSpPr>
        <p:spPr>
          <a:xfrm>
            <a:off x="4283567" y="1901131"/>
            <a:ext cx="172436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 err="1">
                <a:solidFill>
                  <a:schemeClr val="tx1"/>
                </a:solidFill>
                <a:effectLst/>
                <a:latin typeface="Urbanist"/>
              </a:rPr>
              <a:t>Zakri</a:t>
            </a:r>
            <a:br>
              <a:rPr lang="en-US" sz="2000" b="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en-US" sz="1400" b="0" i="0" u="none" strike="noStrike" dirty="0">
                <a:solidFill>
                  <a:schemeClr val="bg2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Testing &amp; Validation. Responsible for brainstorming emergency scenarios and black-box testing the interface.</a:t>
            </a:r>
            <a:endParaRPr lang="en-US" b="0" dirty="0">
              <a:solidFill>
                <a:schemeClr val="bg2"/>
              </a:solidFill>
              <a:effectLst/>
              <a:latin typeface="Chakra Petch Medium" panose="020B0604020202020204" charset="-34"/>
              <a:cs typeface="Chakra Petch Medium" panose="020B0604020202020204" charset="-34"/>
            </a:endParaRPr>
          </a:p>
          <a:p>
            <a:br>
              <a:rPr lang="en-US" dirty="0">
                <a:solidFill>
                  <a:schemeClr val="bg2"/>
                </a:solidFill>
                <a:latin typeface="Chakra Petch Medium" panose="020B0604020202020204" charset="-34"/>
                <a:cs typeface="Chakra Petch Medium" panose="020B0604020202020204" charset="-34"/>
              </a:rPr>
            </a:br>
            <a:endParaRPr lang="en-US" dirty="0">
              <a:solidFill>
                <a:schemeClr val="bg2"/>
              </a:solidFill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72E6C-1600-64E9-0FEA-9E879F7D57FF}"/>
              </a:ext>
            </a:extLst>
          </p:cNvPr>
          <p:cNvSpPr txBox="1"/>
          <p:nvPr/>
        </p:nvSpPr>
        <p:spPr>
          <a:xfrm>
            <a:off x="7195070" y="1901130"/>
            <a:ext cx="15577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dirty="0">
                <a:solidFill>
                  <a:schemeClr val="tx1"/>
                </a:solidFill>
                <a:effectLst/>
                <a:latin typeface="Urbanist"/>
              </a:rPr>
              <a:t>Fares</a:t>
            </a:r>
            <a:br>
              <a:rPr lang="en-US" sz="2000" b="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</a:br>
            <a:r>
              <a:rPr lang="en-US" sz="1400" b="0" i="0" u="none" strike="noStrike" dirty="0">
                <a:solidFill>
                  <a:schemeClr val="bg2"/>
                </a:solidFill>
                <a:effectLst/>
                <a:latin typeface="Chakra Petch Medium" panose="020B0604020202020204" charset="-34"/>
                <a:cs typeface="Chakra Petch Medium" panose="020B0604020202020204" charset="-34"/>
              </a:rPr>
              <a:t>QA &amp; Optimization. Identified the floor-skipping bug and conducted efficiency comparison tests.</a:t>
            </a:r>
            <a:endParaRPr lang="en-US" dirty="0">
              <a:solidFill>
                <a:schemeClr val="bg2"/>
              </a:solidFill>
              <a:latin typeface="Chakra Petch Medium" panose="020B0604020202020204" charset="-34"/>
              <a:cs typeface="Chakra Petch Medium" panose="020B060402020202020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5225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MATLAB&quot; Icon - Download for free – Iconduck">
            <a:extLst>
              <a:ext uri="{FF2B5EF4-FFF2-40B4-BE49-F238E27FC236}">
                <a16:creationId xmlns:a16="http://schemas.microsoft.com/office/drawing/2014/main" id="{491B79D8-5FC7-292E-A5EE-54929F7E8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646" y="3819436"/>
            <a:ext cx="837154" cy="76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8" name="Google Shape;1658;p63"/>
          <p:cNvSpPr txBox="1">
            <a:spLocks noGrp="1"/>
          </p:cNvSpPr>
          <p:nvPr>
            <p:ph type="title"/>
          </p:nvPr>
        </p:nvSpPr>
        <p:spPr>
          <a:xfrm>
            <a:off x="1469620" y="558936"/>
            <a:ext cx="6204760" cy="38781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Thank </a:t>
            </a:r>
            <a:r>
              <a:rPr lang="en-GB" dirty="0">
                <a:solidFill>
                  <a:schemeClr val="lt1"/>
                </a:solidFill>
                <a:highlight>
                  <a:schemeClr val="dk1"/>
                </a:highlight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mputer Science &amp; Mathematics Major for College: Software &amp; Media Application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B7B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404</Words>
  <Application>Microsoft Office PowerPoint</Application>
  <PresentationFormat>On-screen Show (16:9)</PresentationFormat>
  <Paragraphs>55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Poppins</vt:lpstr>
      <vt:lpstr>Chakra Petch Medium</vt:lpstr>
      <vt:lpstr>Bebas Neue</vt:lpstr>
      <vt:lpstr>Urbanist</vt:lpstr>
      <vt:lpstr>Arial</vt:lpstr>
      <vt:lpstr>Fira Code</vt:lpstr>
      <vt:lpstr>Calibri</vt:lpstr>
      <vt:lpstr>Computer Science &amp; Mathematics Major for College: Software &amp; Media Applications by Slidesgo</vt:lpstr>
      <vt:lpstr>Smart 5-Story Elevator Simulation </vt:lpstr>
      <vt:lpstr>Objective</vt:lpstr>
      <vt:lpstr>The main Objective</vt:lpstr>
      <vt:lpstr>Overview</vt:lpstr>
      <vt:lpstr>Overview:</vt:lpstr>
      <vt:lpstr>Methodology</vt:lpstr>
      <vt:lpstr>Methodology</vt:lpstr>
      <vt:lpstr>Findings</vt:lpstr>
      <vt:lpstr>PowerPoint Presentation</vt:lpstr>
      <vt:lpstr>Elevator GUI</vt:lpstr>
      <vt:lpstr>Challenges &amp; Solutions</vt:lpstr>
      <vt:lpstr>Team Contributions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Abdo Jalal</dc:creator>
  <cp:lastModifiedBy>Abdulkader Ghassan Abdulkader Jalal (ajalal@student.ius.edu.ba)</cp:lastModifiedBy>
  <cp:revision>9</cp:revision>
  <dcterms:modified xsi:type="dcterms:W3CDTF">2026-01-09T20:03:07Z</dcterms:modified>
</cp:coreProperties>
</file>